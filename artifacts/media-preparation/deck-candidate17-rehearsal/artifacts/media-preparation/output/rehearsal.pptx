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e732b577e54224" /><Relationship Type="http://schemas.openxmlformats.org/officeDocument/2006/relationships/extended-properties" Target="/docProps/app.xml" Id="Rba965ad967174cb0" /><Relationship Type="http://schemas.openxmlformats.org/officeDocument/2006/relationships/officeDocument" Target="/ppt/presentation.xml" Id="R94e01b882d8e4a85" /></Relationships>
</file>

<file path=ppt/presentation.xml><?xml version="1.0" encoding="utf-8"?>
<p:presentation xmlns:p="http://schemas.openxmlformats.org/presentationml/2006/main">
  <p:sldMasterIdLst>
    <p:sldMasterId xmlns:r="http://schemas.openxmlformats.org/officeDocument/2006/relationships" id="2147483648" r:id="R5e0bc2fff65c4a07"/>
  </p:sldMasterIdLst>
  <p:notesMasterIdLst>
    <p:notesMasterId xmlns:r="http://schemas.openxmlformats.org/officeDocument/2006/relationships" r:id="R9d764be036dc4f08"/>
  </p:notesMasterIdLst>
  <p:sldIdLst>
    <p:sldId xmlns:r="http://schemas.openxmlformats.org/officeDocument/2006/relationships" id="256" r:id="R9fbdd37bfb614895"/>
    <p:sldId xmlns:r="http://schemas.openxmlformats.org/officeDocument/2006/relationships" id="257" r:id="Rc1c6d24a7de84349"/>
    <p:sldId xmlns:r="http://schemas.openxmlformats.org/officeDocument/2006/relationships" id="258" r:id="R1054e8134fac401f"/>
    <p:sldId xmlns:r="http://schemas.openxmlformats.org/officeDocument/2006/relationships" id="259" r:id="R932b437c043342a2"/>
    <p:sldId xmlns:r="http://schemas.openxmlformats.org/officeDocument/2006/relationships" id="260" r:id="R8a3d7659657448c2"/>
    <p:sldId xmlns:r="http://schemas.openxmlformats.org/officeDocument/2006/relationships" id="261" r:id="R8962a73ebe3342ff"/>
    <p:sldId xmlns:r="http://schemas.openxmlformats.org/officeDocument/2006/relationships" id="262" r:id="R0e677e8d70cf49dd"/>
    <p:sldId xmlns:r="http://schemas.openxmlformats.org/officeDocument/2006/relationships" id="263" r:id="R03e7522ee6ab45c6"/>
    <p:sldId xmlns:r="http://schemas.openxmlformats.org/officeDocument/2006/relationships" id="264" r:id="R15789590ac1d451d"/>
    <p:sldId xmlns:r="http://schemas.openxmlformats.org/officeDocument/2006/relationships" id="265" r:id="R122a12915be84c06"/>
    <p:sldId xmlns:r="http://schemas.openxmlformats.org/officeDocument/2006/relationships" id="266" r:id="R55f2035a50e4446a"/>
    <p:sldId xmlns:r="http://schemas.openxmlformats.org/officeDocument/2006/relationships" id="267" r:id="Ra7073b37898b4e3c"/>
    <p:sldId xmlns:r="http://schemas.openxmlformats.org/officeDocument/2006/relationships" id="268" r:id="Ra319757db8f0438d"/>
    <p:sldId xmlns:r="http://schemas.openxmlformats.org/officeDocument/2006/relationships" id="269" r:id="R21d54455f7d446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50dfbed5324a47" /><Relationship Type="http://schemas.openxmlformats.org/officeDocument/2006/relationships/slideMaster" Target="/ppt/slideMasters/slideMaster1.xml" Id="R5e0bc2fff65c4a07" /><Relationship Type="http://schemas.openxmlformats.org/officeDocument/2006/relationships/notesMaster" Target="/ppt/notesMasters/notesMaster1.xml" Id="R9d764be036dc4f08" /><Relationship Type="http://schemas.openxmlformats.org/officeDocument/2006/relationships/presProps" Target="/ppt/presProps.xml" Id="Rd00f5ef52d2749b4" /><Relationship Type="http://schemas.openxmlformats.org/officeDocument/2006/relationships/tableStyles" Target="/ppt/tableStyles.xml" Id="R857e8fb87d2b4600" /><Relationship Type="http://schemas.openxmlformats.org/officeDocument/2006/relationships/slide" Target="/ppt/slides/slide1.xml" Id="R9fbdd37bfb614895" /><Relationship Type="http://schemas.openxmlformats.org/officeDocument/2006/relationships/slide" Target="/ppt/slides/slide2.xml" Id="Rc1c6d24a7de84349" /><Relationship Type="http://schemas.openxmlformats.org/officeDocument/2006/relationships/slide" Target="/ppt/slides/slide3.xml" Id="R1054e8134fac401f" /><Relationship Type="http://schemas.openxmlformats.org/officeDocument/2006/relationships/slide" Target="/ppt/slides/slide4.xml" Id="R932b437c043342a2" /><Relationship Type="http://schemas.openxmlformats.org/officeDocument/2006/relationships/slide" Target="/ppt/slides/slide5.xml" Id="R8a3d7659657448c2" /><Relationship Type="http://schemas.openxmlformats.org/officeDocument/2006/relationships/slide" Target="/ppt/slides/slide6.xml" Id="R8962a73ebe3342ff" /><Relationship Type="http://schemas.openxmlformats.org/officeDocument/2006/relationships/slide" Target="/ppt/slides/slide7.xml" Id="R0e677e8d70cf49dd" /><Relationship Type="http://schemas.openxmlformats.org/officeDocument/2006/relationships/slide" Target="/ppt/slides/slide8.xml" Id="R03e7522ee6ab45c6" /><Relationship Type="http://schemas.openxmlformats.org/officeDocument/2006/relationships/slide" Target="/ppt/slides/slide9.xml" Id="R15789590ac1d451d" /><Relationship Type="http://schemas.openxmlformats.org/officeDocument/2006/relationships/slide" Target="/ppt/slides/slide10.xml" Id="R122a12915be84c06" /><Relationship Type="http://schemas.openxmlformats.org/officeDocument/2006/relationships/slide" Target="/ppt/slides/slide11.xml" Id="R55f2035a50e4446a" /><Relationship Type="http://schemas.openxmlformats.org/officeDocument/2006/relationships/slide" Target="/ppt/slides/slide12.xml" Id="Ra7073b37898b4e3c" /><Relationship Type="http://schemas.openxmlformats.org/officeDocument/2006/relationships/slide" Target="/ppt/slides/slide13.xml" Id="Ra319757db8f0438d" /><Relationship Type="http://schemas.openxmlformats.org/officeDocument/2006/relationships/slide" Target="/ppt/slides/slide14.xml" Id="R21d54455f7d446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d1dda5c2784f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76a91982714042" /><Relationship Type="http://schemas.openxmlformats.org/officeDocument/2006/relationships/notesMaster" Target="/ppt/notesMasters/notesMaster1.xml" Id="R7255a0bbcd3b4a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d39a9667d74f70" /><Relationship Type="http://schemas.openxmlformats.org/officeDocument/2006/relationships/notesMaster" Target="/ppt/notesMasters/notesMaster1.xml" Id="R2ddf3db96ac74f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38daef81eb4d26" /><Relationship Type="http://schemas.openxmlformats.org/officeDocument/2006/relationships/notesMaster" Target="/ppt/notesMasters/notesMaster1.xml" Id="R639f768d80f442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7e472379fb456a" /><Relationship Type="http://schemas.openxmlformats.org/officeDocument/2006/relationships/notesMaster" Target="/ppt/notesMasters/notesMaster1.xml" Id="Rbf084a5fc0ec4e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e9b725a4bb48ef" /><Relationship Type="http://schemas.openxmlformats.org/officeDocument/2006/relationships/notesMaster" Target="/ppt/notesMasters/notesMaster1.xml" Id="R8b978b40afc941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5822d20aab4158" /><Relationship Type="http://schemas.openxmlformats.org/officeDocument/2006/relationships/notesMaster" Target="/ppt/notesMasters/notesMaster1.xml" Id="R31ff81f78feb40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38f9b5d53f4a19" /><Relationship Type="http://schemas.openxmlformats.org/officeDocument/2006/relationships/notesMaster" Target="/ppt/notesMasters/notesMaster1.xml" Id="R9222ab3697b241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63e88420c7442e" /><Relationship Type="http://schemas.openxmlformats.org/officeDocument/2006/relationships/notesMaster" Target="/ppt/notesMasters/notesMaster1.xml" Id="R6b6c1483740441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1b5ba12c9048f6" /><Relationship Type="http://schemas.openxmlformats.org/officeDocument/2006/relationships/notesMaster" Target="/ppt/notesMasters/notesMaster1.xml" Id="Ra0871b3b28b44c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175063e5db4980" /><Relationship Type="http://schemas.openxmlformats.org/officeDocument/2006/relationships/notesMaster" Target="/ppt/notesMasters/notesMaster1.xml" Id="R510c5964f5404e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202f227a444899" /><Relationship Type="http://schemas.openxmlformats.org/officeDocument/2006/relationships/notesMaster" Target="/ppt/notesMasters/notesMaster1.xml" Id="Ra9a0eb0d80f146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013ad26a7f49c6" /><Relationship Type="http://schemas.openxmlformats.org/officeDocument/2006/relationships/notesMaster" Target="/ppt/notesMasters/notesMaster1.xml" Id="R84eb66b88e6f4f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46112b375542c1" /><Relationship Type="http://schemas.openxmlformats.org/officeDocument/2006/relationships/notesMaster" Target="/ppt/notesMasters/notesMaster1.xml" Id="Rd3feff84cbe645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036ab884c247b4" /><Relationship Type="http://schemas.openxmlformats.org/officeDocument/2006/relationships/notesMaster" Target="/ppt/notesMasters/notesMaster1.xml" Id="Rb98791b40e4947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00:00–00:25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00:00–00:25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00:00–00:25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01:35–02:03</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00:25–00:59</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 일반 REST 목표 폼의 입력 범위와 날짜 오류는 별도 실제 브라우저 시험으로 확인한 개선입니다. 이 영상 장면에서는 해당 폼을 제출하지 않으며 별도 MQTT 클라이언트의 출력 제어를 보여줍니다. 대시보드의 REST 접수 패널은 마지막 관측 상태입니다. 저장 상태 확인은 서버에 저장된 상태를 다시 읽습니다. 접수 안내만으로 완료를 판단하지 않습니다. 명령 목록의 조회 성공·마지막 확인 시각은 브라우저의 응답 관측이며 명령 완료 시각이나 전체 실시간 연결 상태가 아닙니다. 영상에서는 정상 조회를 보여주며 조회 실패 경계는 별도 시험 근거입니다.</a:t>
            </a:r>
          </a:p>
          <a:p xmlns:a="http://schemas.openxmlformats.org/drawingml/2006/main">
            <a:r>
              <a:t/>
            </a:r>
          </a:p>
          <a:p xmlns:a="http://schemas.openxmlformats.org/drawingml/2006/main">
            <a:r>
              <a:t>시연 영상: ../../../../../full-candidate17-20260921/GRID-VPP-demo-ko.mp4</a:t>
            </a:r>
          </a:p>
          <a:p xmlns:a="http://schemas.openxmlformats.org/drawingml/2006/main">
            <a:r>
              <a:t>관련 시간: 02:03–02:49</a:t>
            </a:r>
          </a:p>
          <a:p xmlns:a="http://schemas.openxmlformats.org/drawingml/2006/main">
            <a:r>
              <a:t>근거: docs/PRD-VPP-SCADA-RTU.md, docs/protocol.md, deploy/verification/candidate-d98d3c4/restore-current-form/result.json, deploy/verification/candidate-d98d3c4/restore-current-receipts/result.json, deploy/verification/candidate-d98d3c4/main-command-list/result.json, deploy/verification/candidate-d98d3c4/restore-current-list/result.json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 기동·정지 버튼 조작은 모든 명령의 완료를 뜻하지 않습니다. 뒤의 기동 명령이 앞의 정지를 대체하면 superseded로 설명하고 정지 완료로 표현하지 않습니다. 상한 명령 후 접수 확인에서 대상 RTU와 명령 ID를 확인하고 저장 상태를 조회합니다. 최종 캡처와 명령 상태가 일치하는지 검수합니다.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00:59–01:35</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01:35–02:03</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통신 장애와 센서 중지는 실제 최종 장면에서 구분해 보여줍니다. 서버 재시작과 미확인 배치 재전송, 독립 저장소 백업 복구는 선택 매니페스트의 별도 실행 근거로 설명하며 영상에서 수행했다고 주장하지 않습니다. 시연 종료 설정 복원은 최종 demo-recovery 기록에서 확인합니다. 무작위 궤적의 완전한 원상 재현은 보장하지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02:49–03:21</a:t>
            </a:r>
          </a:p>
          <a:p xmlns:a="http://schemas.openxmlformats.org/drawingml/2006/main">
            <a:r>
              <a:t>근거: docs/PRD-VPP-SCADA-RTU.md, docs/protocol.md, deploy/verification/candidate-d98d3c4/outbox-restart.json, deploy/verification/candidate-d98d3c4/restore-summary.json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03:21–03:51</a:t>
            </a:r>
          </a:p>
          <a:p xmlns:a="http://schemas.openxmlformats.org/drawingml/2006/main">
            <a:r>
              <a:t>근거: docs/PRD-VPP-SCADA-RTU.md, docs/protocol.md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최종 선택 릴리스의 charles-k3s 배포 이미지와 접속 절차를 안내합니다. 준비 기준은 제품1.7.0의 d98d3c4 앱과 검증된 안정 백업 및 독립 저장소 복구 기록입니다. 동결 때 선택한 매니페스트의 정확한 근거 해시를 다시 확인합니다. 운영 소스 커밋과 앱 runtime 커밋을 구분하고 자격증명은 화면이나 자료에 넣지 않습니다. 같은 불변 백업으로 현재1.7과 하위호환1.6를 별도 저장소에 복원한 근거를 구분합니다.1.6 복원본에는1.7의 명령 목록 조회 상태 안내가 없으므로 해당 개선은 현재1.7과 구분합니다.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03:51–04:15</a:t>
            </a:r>
          </a:p>
          <a:p xmlns:a="http://schemas.openxmlformats.org/drawingml/2006/main">
            <a:r>
              <a:t>근거: docs/PRD-VPP-SCADA-RTU.md, docs/protocol.md, deploy/verification/stable-backup-d98d3c4.json, deploy/verification/candidate-d98d3c4/restore-summary.json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 이벤트 시각 표시는 메인1.7 실제66개 이벤트와 현재1.7·하위호환1.6 복원본 각각 실제80개 이벤트를 별도 읽기 전용 UI 근거에서 대조했습니다. 기존8장면 영상은 이벤트 로그 페이지를 방문하지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02:03–02:49</a:t>
            </a:r>
          </a:p>
          <a:p xmlns:a="http://schemas.openxmlformats.org/drawingml/2006/main">
            <a:r>
              <a:t>근거: docs/PRD-VPP-SCADA-RTU.md, docs/protocol.md, deploy/verification/candidate-d98d3c4/main-event-time/result.json, deploy/verification/candidate-d98d3c4/restore-current-event/result.json, deploy/verification/candidate-d98d3c4/restore-back-event/result.json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03:51–04:15</a:t>
            </a:r>
          </a:p>
          <a:p xmlns:a="http://schemas.openxmlformats.org/drawingml/2006/main">
            <a:r>
              <a:t>근거: docs/security/VULNERABILITY-MANAGEMENT.md, docs/issues/ISSUES.md</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준비용1.7 원고·기존 로컬 리허설 화면. 최종 발표자료가 아닙니다.</a:t>
            </a:r>
          </a:p>
          <a:p xmlns:a="http://schemas.openxmlformats.org/drawingml/2006/main">
            <a:r>
              <a:t>1.1은 CSV 해석 미리보기,1.2는 최근 최대20개 명령 상태 JSON,1.3은 선택 RTU 시나리오와 대상이 명확한 결과 안내를 추가했습니다.1.4는 기존 서버 범위와 날짜 오류를 입력 단계에서 안내합니다. 소수와0초 의미를 유지하고 조용히 값을 보정하지 않습니다. 새 폼의 오류·수정·키보드 경로는 별도 실제 브라우저 근거로 확인했으며 본 영상에서는 제출하지 않았습니다. 명령 내보내기는 저장 상태이며 전체 감사 이력이나 외부 업무 수신 증명이 아닙니다. KMA 요청 완료는 새 관측 적용 증거가 아닙니다. 1.5는 REST 명령의 대상·명령 ID·마지막 관측 상태와 저장 상태 재조회 안내를 추가했습니다. 접수와 실행 완료를 구분합니다. 응답 유실 등 경계 경로는 별도 브라우저 시험 근거이며 모든 경로를 영상에서 시연한 것은 아닙니다. 1.6은 이벤트의 실제 발생 시각을 표시하도록 수정합니다. 이 수정은 별도 실제 UI 검증 근거로 설명하며 영상에서 이벤트 로그를 시연했다고 주장하지 않습니다.현재 하위호환1.6 복원본의 이벤트 시각은 별도 실제 근거로 확인했습니다. 1.7은 명령 목록 조회 상태와 마지막 성공 확인 시각을 구분합니다. 정상 조회는 MQTT 장면에서 소개하고 실패·지연·취소 경계는 별도 브라우저 응답 시험입니다. 실제 원격 네트워크 장애를 시연했다는 뜻이 아닙니다.</a:t>
            </a:r>
          </a:p>
          <a:p xmlns:a="http://schemas.openxmlformats.org/drawingml/2006/main">
            <a:r>
              <a:t/>
            </a:r>
          </a:p>
          <a:p xmlns:a="http://schemas.openxmlformats.org/drawingml/2006/main">
            <a:r>
              <a:t>시연 영상: ../../../../../full-candidate17-20260921/GRID-VPP-demo-ko.mp4</a:t>
            </a:r>
          </a:p>
          <a:p xmlns:a="http://schemas.openxmlformats.org/drawingml/2006/main">
            <a:r>
              <a:t>관련 시간: 03:51–04:15</a:t>
            </a:r>
          </a:p>
          <a:p xmlns:a="http://schemas.openxmlformats.org/drawingml/2006/main">
            <a:r>
              <a:t>근거: docs/product/PRD-CHANGELOG.md, docs/product/IDEAS.md, artifacts/checkpoints/candidate-1.7-command-list-round1/result.json, artifacts/checkpoints/candidate-1.7-command-list-round1/supplement-result.json, deploy/verification/candidate-d98d3c4/restore-current-form/result.json, deploy/verification/candidate-d98d3c4/restore-current-receipts/result.json, deploy/verification/candidate-d98d3c4/main-event-time/result.json, deploy/verification/candidate-d98d3c4/restore-current-event/result.json, deploy/verification/candidate-d98d3c4/main-command-list/result.json, deploy/verification/candidate-d98d3c4/restore-current-list/result.json</a:t>
            </a:r>
          </a:p>
          <a:p xmlns:a="http://schemas.openxmlformats.org/drawingml/2006/main">
            <a:r>
              <a:t>릴리스 커밋: d98d3c48d22c54e7fd092ee9e46ca9ab49e4bbf9</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8decb698734a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04085689b14116" /><Relationship Type="http://schemas.openxmlformats.org/officeDocument/2006/relationships/slideLayout" Target="/ppt/slideLayouts/slideLayout1.xml" Id="Rce9f46f37c2649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9f46f37c2649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679ad895a04a5a" /><Relationship Type="http://schemas.openxmlformats.org/officeDocument/2006/relationships/image" Target="/ppt/media/image.png" Id="Rf90f657e99264e93" /><Relationship Type="http://schemas.openxmlformats.org/officeDocument/2006/relationships/notesSlide" Target="/ppt/notesSlides/notesSlide1.xml" Id="Rb9237833658740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519f2970f74c9b" /><Relationship Type="http://schemas.openxmlformats.org/officeDocument/2006/relationships/notesSlide" Target="/ppt/notesSlides/notesSlide2.xml" Id="R664a1266b0d649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a9538b6e114d54" /><Relationship Type="http://schemas.openxmlformats.org/officeDocument/2006/relationships/notesSlide" Target="/ppt/notesSlides/notesSlide3.xml" Id="R1ed908feeb1f40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c43e53ea0d473c" /><Relationship Type="http://schemas.openxmlformats.org/officeDocument/2006/relationships/notesSlide" Target="/ppt/notesSlides/notesSlide4.xml" Id="R71269e3c6a7b49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a04d9b37854429" /><Relationship Type="http://schemas.openxmlformats.org/officeDocument/2006/relationships/image" Target="/ppt/media/image2.png" Id="Raaf286f8cc6b4031" /><Relationship Type="http://schemas.openxmlformats.org/officeDocument/2006/relationships/notesSlide" Target="/ppt/notesSlides/notesSlide5.xml" Id="Rb9d52e79935b40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dd1380472b4875" /><Relationship Type="http://schemas.openxmlformats.org/officeDocument/2006/relationships/image" Target="/ppt/media/image3.png" Id="R86d745f959fa44d8" /><Relationship Type="http://schemas.openxmlformats.org/officeDocument/2006/relationships/notesSlide" Target="/ppt/notesSlides/notesSlide6.xml" Id="R7ea11bf2bdbb43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150dffde064959" /><Relationship Type="http://schemas.openxmlformats.org/officeDocument/2006/relationships/image" Target="/ppt/media/image4.png" Id="R89dfc2b0c9a344bc" /><Relationship Type="http://schemas.openxmlformats.org/officeDocument/2006/relationships/notesSlide" Target="/ppt/notesSlides/notesSlide7.xml" Id="Re92f7955b2b84a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eb4c33dc4a4da3" /><Relationship Type="http://schemas.openxmlformats.org/officeDocument/2006/relationships/image" Target="/ppt/media/image5.png" Id="Rcaa4445fbbdd4d55" /><Relationship Type="http://schemas.openxmlformats.org/officeDocument/2006/relationships/notesSlide" Target="/ppt/notesSlides/notesSlide8.xml" Id="Rda35103fd4c34b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eb734ee9564533" /><Relationship Type="http://schemas.openxmlformats.org/officeDocument/2006/relationships/image" Target="/ppt/media/image6.png" Id="Rccd1af76d6d64780" /><Relationship Type="http://schemas.openxmlformats.org/officeDocument/2006/relationships/notesSlide" Target="/ppt/notesSlides/notesSlide9.xml" Id="R51ba164165b94c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756d2c4eea491d" /><Relationship Type="http://schemas.openxmlformats.org/officeDocument/2006/relationships/image" Target="/ppt/media/image7.png" Id="Rcb3795ef08654998" /><Relationship Type="http://schemas.openxmlformats.org/officeDocument/2006/relationships/notesSlide" Target="/ppt/notesSlides/notesSlide10.xml" Id="R92d9d7a57a1846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53d0428927454e" /><Relationship Type="http://schemas.openxmlformats.org/officeDocument/2006/relationships/notesSlide" Target="/ppt/notesSlides/notesSlide11.xml" Id="R8087273153184f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295831acad4c87" /><Relationship Type="http://schemas.openxmlformats.org/officeDocument/2006/relationships/notesSlide" Target="/ppt/notesSlides/notesSlide12.xml" Id="R1021f35a903445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cd2a085cef4a8f" /><Relationship Type="http://schemas.openxmlformats.org/officeDocument/2006/relationships/notesSlide" Target="/ppt/notesSlides/notesSlide13.xml" Id="R94bab5c3fd3c41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ea0d9ecd00f435d" /><Relationship Type="http://schemas.openxmlformats.org/officeDocument/2006/relationships/notesSlide" Target="/ppt/notesSlides/notesSlide14.xml" Id="R0083dc5bab204814"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B8D9F0-82B1-47DA-8CC5-291093F7533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90f657e99264e93"/>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ECAFF9-6689-4CC2-8703-BEC1FB5211F7}"/>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외부 VPP 연동을 위한 가상 발전 현장</a:t>
            </a:r>
          </a:p>
        </p:txBody>
      </p:sp>
      <p:sp>
        <p:nvSpPr>
          <p:cNvPr id="4" name="">
            <a:extLst xmlns:a="http://schemas.openxmlformats.org/drawingml/2006/main">
              <a:ext uri="{FF2B5EF4-FFF2-40B4-BE49-F238E27FC236}">
                <a16:creationId xmlns:a16="http://schemas.microsoft.com/office/drawing/2014/main" id="{59621D0F-6225-4820-B42F-94D68DB4BB1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5" name="">
            <a:extLst xmlns:a="http://schemas.openxmlformats.org/drawingml/2006/main">
              <a:ext uri="{FF2B5EF4-FFF2-40B4-BE49-F238E27FC236}">
                <a16:creationId xmlns:a16="http://schemas.microsoft.com/office/drawing/2014/main" id="{1F179D03-BCC2-475F-8966-55664EC17300}"/>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2001754621"/>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8E56F9E-1691-4724-9AE9-5A9A7ADE8A78}"/>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8AB07498-6827-460C-9027-B24AE86FAC40}"/>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예측·입찰·운영 제어 시스템과 가상 현장의 책임을 구분합니다.</a:t>
            </a:r>
          </a:p>
        </p:txBody>
      </p:sp>
      <p:sp>
        <p:nvSpPr>
          <p:cNvPr id="3" name="">
            <a:extLst xmlns:a="http://schemas.openxmlformats.org/drawingml/2006/main">
              <a:ext uri="{FF2B5EF4-FFF2-40B4-BE49-F238E27FC236}">
                <a16:creationId xmlns:a16="http://schemas.microsoft.com/office/drawing/2014/main" id="{B8AB8F2F-9052-4BC2-BFF9-2195F57AFF3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767012343"/>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284AE7B-EA75-44BA-AAC5-7E537652E95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18B6D985-1162-4BF6-A022-4B9221063727}"/>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설비와 시장 입찰은 현재 범위에 포함하지 않습니다.</a:t>
            </a:r>
          </a:p>
        </p:txBody>
      </p:sp>
      <p:sp>
        <p:nvSpPr>
          <p:cNvPr id="3" name="">
            <a:extLst xmlns:a="http://schemas.openxmlformats.org/drawingml/2006/main">
              <a:ext uri="{FF2B5EF4-FFF2-40B4-BE49-F238E27FC236}">
                <a16:creationId xmlns:a16="http://schemas.microsoft.com/office/drawing/2014/main" id="{21F4568B-097F-48FC-B65D-F2FA7CC05B9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287112855"/>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36FA6F5-3345-4A51-BD01-273411B8872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E41310CB-82A4-4AD5-9A21-76010C6C54D9}"/>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3CAE5CC8-D9DD-4600-A35B-B22FFE8A66DC}"/>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CBBE5CDF-70AD-4D94-969B-2769A0B4FA0D}"/>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111E68FB-FD57-4ACD-9636-0497447FD7DB}"/>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1005CEFB-682D-41C2-97AF-EB39C0A786F9}"/>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12162719-B22E-4C4E-97F9-147540BF4E3B}"/>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30E57341-F6CE-4B12-9C00-4BEFFD8BC0F6}"/>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CD2BD42D-AB3E-432D-8258-4DCF3A65C2B1}"/>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DEF56995-9406-4C5C-8CE0-D653B42EC08C}"/>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F19F1C41-972F-4DB9-A10D-B4F34B3313EB}"/>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71A481EE-3D79-4540-97B6-784C5099DA68}"/>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5195B2F1-6920-428C-A70B-C8785B1152B5}"/>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30A3E69A-CD07-4EA3-836D-6D0BDBD54836}"/>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B9E4E6DB-4B76-47C0-B2C8-53430E69FA77}"/>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92BB6847-133D-421C-BFA8-B6816FFC2E78}"/>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5292B870-6D64-4635-840E-45611BF2D3B1}"/>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265C9FE0-B2FC-48F9-AD5D-60FCFD1DD51F}"/>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전체 SCADA 데이터와 목표값 제어가 양방향 MQTT로 이동합니다.</a:t>
            </a:r>
          </a:p>
        </p:txBody>
      </p:sp>
      <p:sp>
        <p:nvSpPr>
          <p:cNvPr id="19" name="">
            <a:extLst xmlns:a="http://schemas.openxmlformats.org/drawingml/2006/main">
              <a:ext uri="{FF2B5EF4-FFF2-40B4-BE49-F238E27FC236}">
                <a16:creationId xmlns:a16="http://schemas.microsoft.com/office/drawing/2014/main" id="{62DB171C-0B7C-4ECC-8BBB-454BCBFC580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2129217923"/>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07F444-113D-4D2F-89B0-01D126288D7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af286f8cc6b4031"/>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785A482-EFA4-4A13-A28B-2E68EFDFD310}"/>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입력 단위와 시각을 미리 확인하고 일 초 샘플을 생성합니다.</a:t>
            </a:r>
          </a:p>
        </p:txBody>
      </p:sp>
      <p:sp>
        <p:nvSpPr>
          <p:cNvPr id="4" name="">
            <a:extLst xmlns:a="http://schemas.openxmlformats.org/drawingml/2006/main">
              <a:ext uri="{FF2B5EF4-FFF2-40B4-BE49-F238E27FC236}">
                <a16:creationId xmlns:a16="http://schemas.microsoft.com/office/drawing/2014/main" id="{11AB480D-81DE-4679-8B1B-FF95A8A7B46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1684199190"/>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886EED-FD11-44BF-9112-1CC390016B2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6d745f959fa44d8"/>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CF50422-07B2-4FE9-AD43-9D6F56A2D979}"/>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접수·실행·실제 도달을 구분해 확인합니다.</a:t>
            </a:r>
          </a:p>
        </p:txBody>
      </p:sp>
      <p:sp>
        <p:nvSpPr>
          <p:cNvPr id="4" name="">
            <a:extLst xmlns:a="http://schemas.openxmlformats.org/drawingml/2006/main">
              <a:ext uri="{FF2B5EF4-FFF2-40B4-BE49-F238E27FC236}">
                <a16:creationId xmlns:a16="http://schemas.microsoft.com/office/drawing/2014/main" id="{FD97D0A7-8481-45A7-B670-BCCB42A73C15}"/>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1230784935"/>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D5E6AE-1408-44D6-8E98-8C8A62AE03CD}"/>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dfc2b0c9a344bc"/>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3B8CB8F-A3F8-4C25-A269-634E8A29D0C6}"/>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삼차원 시점과 단지를 선택하고 명령 접수·저장 상태를 확인합니다.</a:t>
            </a:r>
          </a:p>
        </p:txBody>
      </p:sp>
      <p:sp>
        <p:nvSpPr>
          <p:cNvPr id="4" name="">
            <a:extLst xmlns:a="http://schemas.openxmlformats.org/drawingml/2006/main">
              <a:ext uri="{FF2B5EF4-FFF2-40B4-BE49-F238E27FC236}">
                <a16:creationId xmlns:a16="http://schemas.microsoft.com/office/drawing/2014/main" id="{CA0A4675-80AB-4B13-BB3A-984ED4146BE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1597424611"/>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9CC1F2-2622-49A8-B2F2-99B8C22413A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aa4445fbbdd4d55"/>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04C3762-F288-46EE-9553-5C48F38E667B}"/>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연결·건강·발행·대기 상태를 RTU별로 확인합니다.</a:t>
            </a:r>
          </a:p>
        </p:txBody>
      </p:sp>
      <p:sp>
        <p:nvSpPr>
          <p:cNvPr id="4" name="">
            <a:extLst xmlns:a="http://schemas.openxmlformats.org/drawingml/2006/main">
              <a:ext uri="{FF2B5EF4-FFF2-40B4-BE49-F238E27FC236}">
                <a16:creationId xmlns:a16="http://schemas.microsoft.com/office/drawing/2014/main" id="{BDD0668D-A8D3-40DC-80BC-FD1F9A4205E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1717407967"/>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D0921C-2D38-4084-AD41-80386A13093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cd1af76d6d64780"/>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CD5962-701F-4EAE-8F70-0B192D122AE6}"/>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장애와 센서 중지를 구분하고 복원 근거를 확인합니다.</a:t>
            </a:r>
          </a:p>
        </p:txBody>
      </p:sp>
      <p:sp>
        <p:nvSpPr>
          <p:cNvPr id="4" name="">
            <a:extLst xmlns:a="http://schemas.openxmlformats.org/drawingml/2006/main">
              <a:ext uri="{FF2B5EF4-FFF2-40B4-BE49-F238E27FC236}">
                <a16:creationId xmlns:a16="http://schemas.microsoft.com/office/drawing/2014/main" id="{23FF28EF-D763-48B9-B7CD-DA379C9A9FE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1189441022"/>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21CA7C-B65E-4496-B472-F151264F84F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3795ef08654998"/>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408DBB-A88D-451F-94AF-4F208B0D49A5}"/>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선택 RTU의 저장 상태를 새 실행으로 복원합니다.</a:t>
            </a:r>
          </a:p>
        </p:txBody>
      </p:sp>
      <p:sp>
        <p:nvSpPr>
          <p:cNvPr id="4" name="">
            <a:extLst xmlns:a="http://schemas.openxmlformats.org/drawingml/2006/main">
              <a:ext uri="{FF2B5EF4-FFF2-40B4-BE49-F238E27FC236}">
                <a16:creationId xmlns:a16="http://schemas.microsoft.com/office/drawing/2014/main" id="{302D5B16-339B-466D-95E0-E3AFF5844ED4}"/>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1789028243"/>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847BD82-1AB4-46DF-8E35-4B8A2AE640CB}"/>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A8A3BED4-DC0C-4FDF-B53D-91AC16432B35}"/>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선택 릴리스의 이미지와 백업·접속 절차를 추적합니다.</a:t>
            </a:r>
          </a:p>
        </p:txBody>
      </p:sp>
      <p:sp>
        <p:nvSpPr>
          <p:cNvPr id="3" name="">
            <a:extLst xmlns:a="http://schemas.openxmlformats.org/drawingml/2006/main">
              <a:ext uri="{FF2B5EF4-FFF2-40B4-BE49-F238E27FC236}">
                <a16:creationId xmlns:a16="http://schemas.microsoft.com/office/drawing/2014/main" id="{08265254-8C22-4A27-9C26-B890A420679B}"/>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1964174513"/>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430AA8B-BF04-46F3-A18A-5847B588507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77355940-2210-49BD-BEDB-43E96899321A}"/>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시연 관측과 이전 시험, 미검증 외부 연결을 구분합니다.</a:t>
            </a:r>
          </a:p>
        </p:txBody>
      </p:sp>
      <p:sp>
        <p:nvSpPr>
          <p:cNvPr id="3" name="">
            <a:extLst xmlns:a="http://schemas.openxmlformats.org/drawingml/2006/main">
              <a:ext uri="{FF2B5EF4-FFF2-40B4-BE49-F238E27FC236}">
                <a16:creationId xmlns:a16="http://schemas.microsoft.com/office/drawing/2014/main" id="{DABFA32E-EEF3-487C-83CB-2AE1F23FD426}"/>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1162329013"/>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660D56D-1CB0-4A28-B989-2D5EB78BACF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C941ACDC-31DC-4CAD-9562-A840B1B30DAA}"/>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적용한 패치와 남은 취약점·이슈를 함께 관리합니다.</a:t>
            </a:r>
          </a:p>
        </p:txBody>
      </p:sp>
      <p:sp>
        <p:nvSpPr>
          <p:cNvPr id="3" name="">
            <a:extLst xmlns:a="http://schemas.openxmlformats.org/drawingml/2006/main">
              <a:ext uri="{FF2B5EF4-FFF2-40B4-BE49-F238E27FC236}">
                <a16:creationId xmlns:a16="http://schemas.microsoft.com/office/drawing/2014/main" id="{1391CD29-C494-4160-B6ED-E28D9DC5E18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1481021647"/>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7342AAA-2020-440F-8A69-7279B132B690}"/>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4C3AD023-8278-4374-B7FF-47A6B8D0D93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CSV 미리보기 · 명령 상태 내보내기 · 선택 RTU 시나리오 · 목표 입력 안내 · REST 접수 확인 · 이벤트 발생 시각 표시 · 명령 목록 조회 상태</a:t>
            </a:r>
          </a:p>
        </p:txBody>
      </p:sp>
      <p:sp>
        <p:nvSpPr>
          <p:cNvPr id="3" name="">
            <a:extLst xmlns:a="http://schemas.openxmlformats.org/drawingml/2006/main">
              <a:ext uri="{FF2B5EF4-FFF2-40B4-BE49-F238E27FC236}">
                <a16:creationId xmlns:a16="http://schemas.microsoft.com/office/drawing/2014/main" id="{0F6E38F9-3EC6-438E-831E-EC91E152ADE0}"/>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560595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2026-09-21T17:04:27.9270000Z</dcterms:created>
  <dcterms:modified xsi:type="dcterms:W3CDTF">2026-09-21T17:04:27.9270000Z</dcterms:modified>
</coreProperties>
</file>